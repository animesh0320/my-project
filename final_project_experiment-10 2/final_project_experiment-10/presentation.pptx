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o Black" charset="1" panose="020B0A03020202020B04"/>
      <p:regular r:id="rId16"/>
    </p:embeddedFont>
    <p:embeddedFont>
      <p:font typeface="Garet Italics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Gare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3854" y="3436538"/>
            <a:ext cx="7906424" cy="7906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34097" y="2015845"/>
            <a:ext cx="5208967" cy="6255310"/>
          </a:xfrm>
          <a:custGeom>
            <a:avLst/>
            <a:gdLst/>
            <a:ahLst/>
            <a:cxnLst/>
            <a:rect r="r" b="b" t="t" l="l"/>
            <a:pathLst>
              <a:path h="6255310" w="5208967">
                <a:moveTo>
                  <a:pt x="0" y="0"/>
                </a:moveTo>
                <a:lnTo>
                  <a:pt x="5208967" y="0"/>
                </a:lnTo>
                <a:lnTo>
                  <a:pt x="5208967" y="6255310"/>
                </a:lnTo>
                <a:lnTo>
                  <a:pt x="0" y="625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362279" y="-772911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4936" y="2266224"/>
            <a:ext cx="11337551" cy="5269421"/>
            <a:chOff x="0" y="0"/>
            <a:chExt cx="2622560" cy="121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373" y="0"/>
              <a:ext cx="2615814" cy="1218903"/>
            </a:xfrm>
            <a:custGeom>
              <a:avLst/>
              <a:gdLst/>
              <a:ahLst/>
              <a:cxnLst/>
              <a:rect r="r" b="b" t="t" l="l"/>
              <a:pathLst>
                <a:path h="1218903" w="2615814">
                  <a:moveTo>
                    <a:pt x="227141" y="1218903"/>
                  </a:moveTo>
                  <a:lnTo>
                    <a:pt x="2388672" y="1218903"/>
                  </a:lnTo>
                  <a:cubicBezTo>
                    <a:pt x="2404434" y="1218903"/>
                    <a:pt x="2417886" y="1207508"/>
                    <a:pt x="2420478" y="1191960"/>
                  </a:cubicBezTo>
                  <a:lnTo>
                    <a:pt x="2614695" y="26942"/>
                  </a:lnTo>
                  <a:cubicBezTo>
                    <a:pt x="2615814" y="20233"/>
                    <a:pt x="2613923" y="13372"/>
                    <a:pt x="2609527" y="8182"/>
                  </a:cubicBezTo>
                  <a:cubicBezTo>
                    <a:pt x="2605131" y="2993"/>
                    <a:pt x="2598674" y="0"/>
                    <a:pt x="2591872" y="0"/>
                  </a:cubicBezTo>
                  <a:lnTo>
                    <a:pt x="23941" y="0"/>
                  </a:lnTo>
                  <a:cubicBezTo>
                    <a:pt x="17140" y="0"/>
                    <a:pt x="10683" y="2993"/>
                    <a:pt x="6286" y="8182"/>
                  </a:cubicBezTo>
                  <a:cubicBezTo>
                    <a:pt x="1890" y="13372"/>
                    <a:pt x="0" y="20233"/>
                    <a:pt x="1119" y="26942"/>
                  </a:cubicBezTo>
                  <a:lnTo>
                    <a:pt x="195335" y="1191960"/>
                  </a:lnTo>
                  <a:cubicBezTo>
                    <a:pt x="197927" y="1207508"/>
                    <a:pt x="211379" y="1218903"/>
                    <a:pt x="227141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38100"/>
              <a:ext cx="2368560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46138" y="73105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934097" y="1159799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43073" y="2989358"/>
            <a:ext cx="9541277" cy="239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E‑COMMERCE API 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5345" y="5560451"/>
            <a:ext cx="942900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BUILDING A HIGH‑PERFORMANCE E‑COMMERCE API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89937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4594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58771" y="7318344"/>
            <a:ext cx="1015093" cy="10150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98748" y="-3953212"/>
            <a:ext cx="7906424" cy="79064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22493" y="1028700"/>
            <a:ext cx="13436807" cy="8229600"/>
            <a:chOff x="0" y="0"/>
            <a:chExt cx="599524" cy="3671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9524" cy="367188"/>
            </a:xfrm>
            <a:custGeom>
              <a:avLst/>
              <a:gdLst/>
              <a:ahLst/>
              <a:cxnLst/>
              <a:rect r="r" b="b" t="t" l="l"/>
              <a:pathLst>
                <a:path h="367188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09571"/>
                  </a:lnTo>
                  <a:cubicBezTo>
                    <a:pt x="599524" y="341392"/>
                    <a:pt x="573728" y="367188"/>
                    <a:pt x="541906" y="367188"/>
                  </a:cubicBezTo>
                  <a:lnTo>
                    <a:pt x="57617" y="367188"/>
                  </a:lnTo>
                  <a:cubicBezTo>
                    <a:pt x="25796" y="367188"/>
                    <a:pt x="0" y="341392"/>
                    <a:pt x="0" y="309571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95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92286" y="825286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23238" y="1454428"/>
            <a:ext cx="1183531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GOAL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644879" y="3245066"/>
            <a:ext cx="782843" cy="78284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644879" y="8002747"/>
            <a:ext cx="782843" cy="78284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44879" y="4456535"/>
            <a:ext cx="782843" cy="78284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44879" y="5668003"/>
            <a:ext cx="782843" cy="78284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44879" y="6879471"/>
            <a:ext cx="782843" cy="78284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694432" y="3409459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94432" y="8167156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94432" y="4608935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94432" y="5808410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94432" y="7007886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78790" y="3272926"/>
            <a:ext cx="7993949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UNIFIED SCHEMA: SINGLE ENDPOINT FOR PRODUCTS, ORDERS, AND USERS.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5514272" y="8042773"/>
            <a:ext cx="100081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REPRODUCIBILITY: FULLY CONTAINERIZED (DOCKER).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57067" y="4456535"/>
            <a:ext cx="923003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HIGH PERFORMANCE: ELIMINATE N+1 QUERIES AND AVOID OVER‑FETCHING.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57067" y="5668003"/>
            <a:ext cx="884274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ROBUST FEATURES: FILTERING, PAGINATION, AND SORTING.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57067" y="6879471"/>
            <a:ext cx="935947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SECURITY: AUTHENTICATION AND ROLE‑BASED ACCESS CONTROL (RBAC).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23238" y="2450109"/>
            <a:ext cx="1183531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 Design, implement, and depl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oy a secure, scalable, and efficient GraphQL API for an e‑commerce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6088" y="-5639429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436807" cy="8229600"/>
            <a:chOff x="0" y="0"/>
            <a:chExt cx="599524" cy="3671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524" cy="367188"/>
            </a:xfrm>
            <a:custGeom>
              <a:avLst/>
              <a:gdLst/>
              <a:ahLst/>
              <a:cxnLst/>
              <a:rect r="r" b="b" t="t" l="l"/>
              <a:pathLst>
                <a:path h="367188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09571"/>
                  </a:lnTo>
                  <a:cubicBezTo>
                    <a:pt x="599524" y="341392"/>
                    <a:pt x="573728" y="367188"/>
                    <a:pt x="541906" y="367188"/>
                  </a:cubicBezTo>
                  <a:lnTo>
                    <a:pt x="57617" y="367188"/>
                  </a:lnTo>
                  <a:cubicBezTo>
                    <a:pt x="25796" y="367188"/>
                    <a:pt x="0" y="341392"/>
                    <a:pt x="0" y="309571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95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35803" y="3749138"/>
            <a:ext cx="12230394" cy="122303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23120" y="1757325"/>
            <a:ext cx="6336180" cy="6513830"/>
          </a:xfrm>
          <a:custGeom>
            <a:avLst/>
            <a:gdLst/>
            <a:ahLst/>
            <a:cxnLst/>
            <a:rect r="r" b="b" t="t" l="l"/>
            <a:pathLst>
              <a:path h="6513830" w="6336180">
                <a:moveTo>
                  <a:pt x="0" y="0"/>
                </a:moveTo>
                <a:lnTo>
                  <a:pt x="6336180" y="0"/>
                </a:lnTo>
                <a:lnTo>
                  <a:pt x="6336180" y="6513830"/>
                </a:lnTo>
                <a:lnTo>
                  <a:pt x="0" y="651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29951" y="1757325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4" y="0"/>
                </a:lnTo>
                <a:lnTo>
                  <a:pt x="1105104" y="1089118"/>
                </a:lnTo>
                <a:lnTo>
                  <a:pt x="0" y="1089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7796465">
            <a:off x="15510000" y="548403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4"/>
                </a:lnTo>
                <a:lnTo>
                  <a:pt x="0" y="960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595793" y="1650948"/>
            <a:ext cx="9626242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 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9371" y="2798818"/>
            <a:ext cx="9106358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Server: Node.js + Express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API Layer: Apollo Server (GraphQL)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Database: MongoDB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ODM: Mongoose (models &amp; validation)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Auth: JSON Web Tokens (JWT)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Performance: DataLoader (batching/caching)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Dev / Infra: Docker &amp; Docker Compose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263935" y="3220186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9330" y="720528"/>
            <a:ext cx="8869970" cy="8134269"/>
            <a:chOff x="0" y="0"/>
            <a:chExt cx="395761" cy="362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761" cy="362935"/>
            </a:xfrm>
            <a:custGeom>
              <a:avLst/>
              <a:gdLst/>
              <a:ahLst/>
              <a:cxnLst/>
              <a:rect r="r" b="b" t="t" l="l"/>
              <a:pathLst>
                <a:path h="362935" w="395761">
                  <a:moveTo>
                    <a:pt x="87282" y="0"/>
                  </a:moveTo>
                  <a:lnTo>
                    <a:pt x="308478" y="0"/>
                  </a:lnTo>
                  <a:cubicBezTo>
                    <a:pt x="331627" y="0"/>
                    <a:pt x="353827" y="9196"/>
                    <a:pt x="370196" y="25564"/>
                  </a:cubicBezTo>
                  <a:cubicBezTo>
                    <a:pt x="386565" y="41933"/>
                    <a:pt x="395761" y="64134"/>
                    <a:pt x="395761" y="87282"/>
                  </a:cubicBezTo>
                  <a:lnTo>
                    <a:pt x="395761" y="275653"/>
                  </a:lnTo>
                  <a:cubicBezTo>
                    <a:pt x="395761" y="323857"/>
                    <a:pt x="356683" y="362935"/>
                    <a:pt x="308478" y="362935"/>
                  </a:cubicBezTo>
                  <a:lnTo>
                    <a:pt x="87282" y="362935"/>
                  </a:lnTo>
                  <a:cubicBezTo>
                    <a:pt x="39078" y="362935"/>
                    <a:pt x="0" y="323857"/>
                    <a:pt x="0" y="275653"/>
                  </a:cubicBezTo>
                  <a:lnTo>
                    <a:pt x="0" y="87282"/>
                  </a:lnTo>
                  <a:cubicBezTo>
                    <a:pt x="0" y="64134"/>
                    <a:pt x="9196" y="41933"/>
                    <a:pt x="25564" y="25564"/>
                  </a:cubicBezTo>
                  <a:cubicBezTo>
                    <a:pt x="41933" y="9196"/>
                    <a:pt x="64134" y="0"/>
                    <a:pt x="8728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761" cy="401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21269" y="-2474505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31304" y="952745"/>
            <a:ext cx="8927996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HIGH‑LEVEL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3100853" y="-5975575"/>
            <a:ext cx="8991126" cy="89911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1154" y="2508005"/>
            <a:ext cx="1015093" cy="10150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3017108">
            <a:off x="4169456" y="591457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5890273" y="3015552"/>
            <a:ext cx="1489898" cy="1468344"/>
          </a:xfrm>
          <a:custGeom>
            <a:avLst/>
            <a:gdLst/>
            <a:ahLst/>
            <a:cxnLst/>
            <a:rect r="r" b="b" t="t" l="l"/>
            <a:pathLst>
              <a:path h="1468344" w="1489898">
                <a:moveTo>
                  <a:pt x="0" y="0"/>
                </a:moveTo>
                <a:lnTo>
                  <a:pt x="1489898" y="0"/>
                </a:lnTo>
                <a:lnTo>
                  <a:pt x="1489898" y="1468344"/>
                </a:lnTo>
                <a:lnTo>
                  <a:pt x="0" y="14683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8879844" y="3220097"/>
            <a:ext cx="7830916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Client (React) sends a GraphQL query to http://localhost:4000.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Apollo Server receives the request and invokes the context function.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Context verifies JWT and attaches user and DataLoaders to the context.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Resolvers execute and request data via DataLoader-enabled functions.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Mongoose queries MongoDB (batched by DataLoader where applicable).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A JSON response is returned to the client.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74505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159" y="1569859"/>
            <a:ext cx="1325831" cy="13258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8229600"/>
            <a:chOff x="0" y="0"/>
            <a:chExt cx="724177" cy="367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177" cy="367188"/>
            </a:xfrm>
            <a:custGeom>
              <a:avLst/>
              <a:gdLst/>
              <a:ahLst/>
              <a:cxnLst/>
              <a:rect r="r" b="b" t="t" l="l"/>
              <a:pathLst>
                <a:path h="367188" w="724177">
                  <a:moveTo>
                    <a:pt x="47700" y="0"/>
                  </a:moveTo>
                  <a:lnTo>
                    <a:pt x="676478" y="0"/>
                  </a:lnTo>
                  <a:cubicBezTo>
                    <a:pt x="689128" y="0"/>
                    <a:pt x="701261" y="5025"/>
                    <a:pt x="710206" y="13971"/>
                  </a:cubicBezTo>
                  <a:cubicBezTo>
                    <a:pt x="719152" y="22916"/>
                    <a:pt x="724177" y="35049"/>
                    <a:pt x="724177" y="47700"/>
                  </a:cubicBezTo>
                  <a:lnTo>
                    <a:pt x="724177" y="319489"/>
                  </a:lnTo>
                  <a:cubicBezTo>
                    <a:pt x="724177" y="332140"/>
                    <a:pt x="719152" y="344272"/>
                    <a:pt x="710206" y="353218"/>
                  </a:cubicBezTo>
                  <a:cubicBezTo>
                    <a:pt x="701261" y="362163"/>
                    <a:pt x="689128" y="367188"/>
                    <a:pt x="676478" y="367188"/>
                  </a:cubicBezTo>
                  <a:lnTo>
                    <a:pt x="47700" y="367188"/>
                  </a:lnTo>
                  <a:cubicBezTo>
                    <a:pt x="35049" y="367188"/>
                    <a:pt x="22916" y="362163"/>
                    <a:pt x="13971" y="353218"/>
                  </a:cubicBezTo>
                  <a:cubicBezTo>
                    <a:pt x="5025" y="344272"/>
                    <a:pt x="0" y="332140"/>
                    <a:pt x="0" y="319489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4177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5600" y="1446685"/>
            <a:ext cx="14782190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SCHEMA DESIGN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5600" y="679896"/>
            <a:ext cx="1285474" cy="1266878"/>
          </a:xfrm>
          <a:custGeom>
            <a:avLst/>
            <a:gdLst/>
            <a:ahLst/>
            <a:cxnLst/>
            <a:rect r="r" b="b" t="t" l="l"/>
            <a:pathLst>
              <a:path h="1266878" w="1285474">
                <a:moveTo>
                  <a:pt x="0" y="0"/>
                </a:moveTo>
                <a:lnTo>
                  <a:pt x="1285475" y="0"/>
                </a:lnTo>
                <a:lnTo>
                  <a:pt x="1285475" y="1266878"/>
                </a:lnTo>
                <a:lnTo>
                  <a:pt x="0" y="1266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9344322">
            <a:off x="16202962" y="486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810209" y="3844726"/>
            <a:ext cx="14667581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Query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products(filter, li</a:t>
            </a: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mit, offset): ProductConnection — paginated list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product(id: ID!): Product — single product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categories: [Category!]! — all categories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myOrders: [Order!]! — orders for the authenticated user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Mutation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register / login — returns JWT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createProduct(input: CreateProductInput!): Product (Admin only)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placeOrder(input: PlaceOrderInput!): Order (Authenticated users)</a:t>
            </a:r>
          </a:p>
          <a:p>
            <a:pPr algn="just">
              <a:lnSpc>
                <a:spcPts val="349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4775757" y="805789"/>
            <a:ext cx="764070" cy="76407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6267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5430941" cy="8229600"/>
            <a:chOff x="0" y="0"/>
            <a:chExt cx="688498" cy="367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498" cy="367188"/>
            </a:xfrm>
            <a:custGeom>
              <a:avLst/>
              <a:gdLst/>
              <a:ahLst/>
              <a:cxnLst/>
              <a:rect r="r" b="b" t="t" l="l"/>
              <a:pathLst>
                <a:path h="367188" w="688498">
                  <a:moveTo>
                    <a:pt x="50171" y="0"/>
                  </a:moveTo>
                  <a:lnTo>
                    <a:pt x="638327" y="0"/>
                  </a:lnTo>
                  <a:cubicBezTo>
                    <a:pt x="651633" y="0"/>
                    <a:pt x="664394" y="5286"/>
                    <a:pt x="673803" y="14695"/>
                  </a:cubicBezTo>
                  <a:cubicBezTo>
                    <a:pt x="683212" y="24104"/>
                    <a:pt x="688498" y="36865"/>
                    <a:pt x="688498" y="50171"/>
                  </a:cubicBezTo>
                  <a:lnTo>
                    <a:pt x="688498" y="317017"/>
                  </a:lnTo>
                  <a:cubicBezTo>
                    <a:pt x="688498" y="330323"/>
                    <a:pt x="683212" y="343085"/>
                    <a:pt x="673803" y="352494"/>
                  </a:cubicBezTo>
                  <a:cubicBezTo>
                    <a:pt x="664394" y="361903"/>
                    <a:pt x="651633" y="367188"/>
                    <a:pt x="638327" y="367188"/>
                  </a:cubicBezTo>
                  <a:lnTo>
                    <a:pt x="50171" y="367188"/>
                  </a:lnTo>
                  <a:cubicBezTo>
                    <a:pt x="36865" y="367188"/>
                    <a:pt x="24104" y="361903"/>
                    <a:pt x="14695" y="352494"/>
                  </a:cubicBezTo>
                  <a:cubicBezTo>
                    <a:pt x="5286" y="343085"/>
                    <a:pt x="0" y="330323"/>
                    <a:pt x="0" y="317017"/>
                  </a:cubicBezTo>
                  <a:lnTo>
                    <a:pt x="0" y="50171"/>
                  </a:lnTo>
                  <a:cubicBezTo>
                    <a:pt x="0" y="36865"/>
                    <a:pt x="5286" y="24104"/>
                    <a:pt x="14695" y="14695"/>
                  </a:cubicBezTo>
                  <a:cubicBezTo>
                    <a:pt x="24104" y="5286"/>
                    <a:pt x="36865" y="0"/>
                    <a:pt x="50171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8498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00284" y="1321128"/>
            <a:ext cx="5962900" cy="7644744"/>
          </a:xfrm>
          <a:custGeom>
            <a:avLst/>
            <a:gdLst/>
            <a:ahLst/>
            <a:cxnLst/>
            <a:rect r="r" b="b" t="t" l="l"/>
            <a:pathLst>
              <a:path h="7644744" w="5962900">
                <a:moveTo>
                  <a:pt x="0" y="0"/>
                </a:moveTo>
                <a:lnTo>
                  <a:pt x="5962900" y="0"/>
                </a:lnTo>
                <a:lnTo>
                  <a:pt x="5962900" y="7644744"/>
                </a:lnTo>
                <a:lnTo>
                  <a:pt x="0" y="7644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014321">
            <a:off x="16373499" y="724498"/>
            <a:ext cx="630273" cy="1853743"/>
          </a:xfrm>
          <a:custGeom>
            <a:avLst/>
            <a:gdLst/>
            <a:ahLst/>
            <a:cxnLst/>
            <a:rect r="r" b="b" t="t" l="l"/>
            <a:pathLst>
              <a:path h="1853743" w="630273">
                <a:moveTo>
                  <a:pt x="0" y="0"/>
                </a:moveTo>
                <a:lnTo>
                  <a:pt x="630272" y="0"/>
                </a:lnTo>
                <a:lnTo>
                  <a:pt x="630272" y="1853743"/>
                </a:lnTo>
                <a:lnTo>
                  <a:pt x="0" y="185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677044" y="4409328"/>
            <a:ext cx="1124690" cy="1108419"/>
          </a:xfrm>
          <a:custGeom>
            <a:avLst/>
            <a:gdLst/>
            <a:ahLst/>
            <a:cxnLst/>
            <a:rect r="r" b="b" t="t" l="l"/>
            <a:pathLst>
              <a:path h="1108419" w="1124690">
                <a:moveTo>
                  <a:pt x="0" y="0"/>
                </a:moveTo>
                <a:lnTo>
                  <a:pt x="1124690" y="0"/>
                </a:lnTo>
                <a:lnTo>
                  <a:pt x="1124690" y="1108419"/>
                </a:lnTo>
                <a:lnTo>
                  <a:pt x="0" y="1108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595793" y="1650948"/>
            <a:ext cx="9899092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SOLVING THE N+1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3054" y="3519178"/>
            <a:ext cx="13840157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The problem: Request 10 products where each has a category — naive resolvers cause 1 query for products + 10 queries for categories.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The solution: DataLoader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How it works: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Resolvers call context.loaders.category.load(categoryId) instead of running a DB query.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DataLoader batches IDs from a single request tick and executes one Category.find({_id: {$in: [...]}}).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Results are mapped back to each original request.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Result: 11 queries → 2 queries (one for products, one batched query for all categories).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088575" y="1720934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4" y="0"/>
                </a:lnTo>
                <a:lnTo>
                  <a:pt x="1105104" y="1089117"/>
                </a:lnTo>
                <a:lnTo>
                  <a:pt x="0" y="10891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068813" y="555112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5092" y="49075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1" y="0"/>
                </a:lnTo>
                <a:lnTo>
                  <a:pt x="1682451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3998748" y="-3953212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66170" y="1028700"/>
            <a:ext cx="11693130" cy="8229600"/>
            <a:chOff x="0" y="0"/>
            <a:chExt cx="521724" cy="367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1724" cy="367188"/>
            </a:xfrm>
            <a:custGeom>
              <a:avLst/>
              <a:gdLst/>
              <a:ahLst/>
              <a:cxnLst/>
              <a:rect r="r" b="b" t="t" l="l"/>
              <a:pathLst>
                <a:path h="367188" w="521724">
                  <a:moveTo>
                    <a:pt x="66209" y="0"/>
                  </a:moveTo>
                  <a:lnTo>
                    <a:pt x="455515" y="0"/>
                  </a:lnTo>
                  <a:cubicBezTo>
                    <a:pt x="492081" y="0"/>
                    <a:pt x="521724" y="29643"/>
                    <a:pt x="521724" y="66209"/>
                  </a:cubicBezTo>
                  <a:lnTo>
                    <a:pt x="521724" y="300979"/>
                  </a:lnTo>
                  <a:cubicBezTo>
                    <a:pt x="521724" y="318539"/>
                    <a:pt x="514749" y="335380"/>
                    <a:pt x="502332" y="347796"/>
                  </a:cubicBezTo>
                  <a:cubicBezTo>
                    <a:pt x="489915" y="360213"/>
                    <a:pt x="473075" y="367188"/>
                    <a:pt x="455515" y="367188"/>
                  </a:cubicBezTo>
                  <a:lnTo>
                    <a:pt x="66209" y="367188"/>
                  </a:lnTo>
                  <a:cubicBezTo>
                    <a:pt x="48649" y="367188"/>
                    <a:pt x="31809" y="360213"/>
                    <a:pt x="19392" y="347796"/>
                  </a:cubicBezTo>
                  <a:cubicBezTo>
                    <a:pt x="6976" y="335380"/>
                    <a:pt x="0" y="318539"/>
                    <a:pt x="0" y="300979"/>
                  </a:cubicBezTo>
                  <a:lnTo>
                    <a:pt x="0" y="66209"/>
                  </a:lnTo>
                  <a:cubicBezTo>
                    <a:pt x="0" y="48649"/>
                    <a:pt x="6976" y="31809"/>
                    <a:pt x="19392" y="19392"/>
                  </a:cubicBezTo>
                  <a:cubicBezTo>
                    <a:pt x="31809" y="6976"/>
                    <a:pt x="48649" y="0"/>
                    <a:pt x="66209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2172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5092" y="3139793"/>
            <a:ext cx="5624019" cy="4969588"/>
          </a:xfrm>
          <a:custGeom>
            <a:avLst/>
            <a:gdLst/>
            <a:ahLst/>
            <a:cxnLst/>
            <a:rect r="r" b="b" t="t" l="l"/>
            <a:pathLst>
              <a:path h="4969588" w="5624019">
                <a:moveTo>
                  <a:pt x="0" y="0"/>
                </a:moveTo>
                <a:lnTo>
                  <a:pt x="5624020" y="0"/>
                </a:lnTo>
                <a:lnTo>
                  <a:pt x="5624020" y="4969588"/>
                </a:lnTo>
                <a:lnTo>
                  <a:pt x="0" y="4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6533863" y="1797391"/>
            <a:ext cx="10299219" cy="297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AUTHENTICATION &amp; AUTHORIZATION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0064" y="4736172"/>
            <a:ext cx="8967486" cy="369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Authentication (register / login)</a:t>
            </a:r>
          </a:p>
          <a:p>
            <a:pPr algn="l" marL="459987" indent="-229993" lvl="1">
              <a:lnSpc>
                <a:spcPts val="29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sends credentials; server verifies and signs a JWT c</a:t>
            </a: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ontaining { userId, role }.</a:t>
            </a:r>
          </a:p>
          <a:p>
            <a:pPr algn="l" marL="459987" indent="-229993" lvl="1">
              <a:lnSpc>
                <a:spcPts val="29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stores token (e.g., HTTP‑only cookie or secure storage).</a:t>
            </a:r>
          </a:p>
          <a:p>
            <a:pPr algn="l">
              <a:lnSpc>
                <a:spcPts val="2982"/>
              </a:lnSpc>
              <a:spcBef>
                <a:spcPct val="0"/>
              </a:spcBef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Context function (per request)</a:t>
            </a:r>
          </a:p>
          <a:p>
            <a:pPr algn="l" marL="459987" indent="-229993" lvl="1">
              <a:lnSpc>
                <a:spcPts val="29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Reads Authorization: Bearer &lt;token&gt; header, verifies token, and attaches user and loaders to the context.</a:t>
            </a:r>
          </a:p>
          <a:p>
            <a:pPr algn="l">
              <a:lnSpc>
                <a:spcPts val="2982"/>
              </a:lnSpc>
              <a:spcBef>
                <a:spcPct val="0"/>
              </a:spcBef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Authorization (resolver level)</a:t>
            </a:r>
          </a:p>
          <a:p>
            <a:pPr algn="l" marL="459987" indent="-229993" lvl="1">
              <a:lnSpc>
                <a:spcPts val="29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Resolvers inspect context.user.role and enforce RBAC.</a:t>
            </a:r>
          </a:p>
          <a:p>
            <a:pPr algn="l">
              <a:lnSpc>
                <a:spcPts val="29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4080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7863" y="1953563"/>
            <a:ext cx="6379874" cy="63798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378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10800000">
            <a:off x="17430813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351225" y="7006973"/>
            <a:ext cx="1015093" cy="10150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51754" y="7006973"/>
            <a:ext cx="1015093" cy="10150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85887" y="1028700"/>
            <a:ext cx="14516227" cy="8229600"/>
            <a:chOff x="0" y="0"/>
            <a:chExt cx="647685" cy="367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685" cy="367188"/>
            </a:xfrm>
            <a:custGeom>
              <a:avLst/>
              <a:gdLst/>
              <a:ahLst/>
              <a:cxnLst/>
              <a:rect r="r" b="b" t="t" l="l"/>
              <a:pathLst>
                <a:path h="367188" w="647685">
                  <a:moveTo>
                    <a:pt x="53333" y="0"/>
                  </a:moveTo>
                  <a:lnTo>
                    <a:pt x="594352" y="0"/>
                  </a:lnTo>
                  <a:cubicBezTo>
                    <a:pt x="623807" y="0"/>
                    <a:pt x="647685" y="23878"/>
                    <a:pt x="647685" y="53333"/>
                  </a:cubicBezTo>
                  <a:lnTo>
                    <a:pt x="647685" y="313856"/>
                  </a:lnTo>
                  <a:cubicBezTo>
                    <a:pt x="647685" y="343311"/>
                    <a:pt x="623807" y="367188"/>
                    <a:pt x="594352" y="367188"/>
                  </a:cubicBezTo>
                  <a:lnTo>
                    <a:pt x="53333" y="367188"/>
                  </a:lnTo>
                  <a:cubicBezTo>
                    <a:pt x="23878" y="367188"/>
                    <a:pt x="0" y="343311"/>
                    <a:pt x="0" y="313856"/>
                  </a:cubicBezTo>
                  <a:lnTo>
                    <a:pt x="0" y="53333"/>
                  </a:lnTo>
                  <a:cubicBezTo>
                    <a:pt x="0" y="23878"/>
                    <a:pt x="23878" y="0"/>
                    <a:pt x="53333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7685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56647" y="1028700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39097" y="1630190"/>
            <a:ext cx="1300980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LIVE DEMO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36925" y="3844726"/>
            <a:ext cx="13009806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Demo steps: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Show docker-compose.yml then run docker-compose up --build.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Run npm run seed to populate sample data.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Open Apollo Sandbox and run an example products query with filters.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Perform register/login; paste JWT into HTTP headers.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Run myOrders and placeOrder to demonstrate auth‑protected operations.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876292" y="1570555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9770" y="-3282961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82961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2971584" cy="8229600"/>
            <a:chOff x="0" y="0"/>
            <a:chExt cx="578766" cy="367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766" cy="367188"/>
            </a:xfrm>
            <a:custGeom>
              <a:avLst/>
              <a:gdLst/>
              <a:ahLst/>
              <a:cxnLst/>
              <a:rect r="r" b="b" t="t" l="l"/>
              <a:pathLst>
                <a:path h="367188" w="578766">
                  <a:moveTo>
                    <a:pt x="59684" y="0"/>
                  </a:moveTo>
                  <a:lnTo>
                    <a:pt x="519083" y="0"/>
                  </a:lnTo>
                  <a:cubicBezTo>
                    <a:pt x="534912" y="0"/>
                    <a:pt x="550093" y="6288"/>
                    <a:pt x="561285" y="17481"/>
                  </a:cubicBezTo>
                  <a:cubicBezTo>
                    <a:pt x="572478" y="28674"/>
                    <a:pt x="578766" y="43855"/>
                    <a:pt x="578766" y="59684"/>
                  </a:cubicBezTo>
                  <a:lnTo>
                    <a:pt x="578766" y="307505"/>
                  </a:lnTo>
                  <a:cubicBezTo>
                    <a:pt x="578766" y="323334"/>
                    <a:pt x="572478" y="338515"/>
                    <a:pt x="561285" y="349708"/>
                  </a:cubicBezTo>
                  <a:cubicBezTo>
                    <a:pt x="550093" y="360900"/>
                    <a:pt x="534912" y="367188"/>
                    <a:pt x="519083" y="367188"/>
                  </a:cubicBezTo>
                  <a:lnTo>
                    <a:pt x="59684" y="367188"/>
                  </a:lnTo>
                  <a:cubicBezTo>
                    <a:pt x="43855" y="367188"/>
                    <a:pt x="28674" y="360900"/>
                    <a:pt x="17481" y="349708"/>
                  </a:cubicBezTo>
                  <a:cubicBezTo>
                    <a:pt x="6288" y="338515"/>
                    <a:pt x="0" y="323334"/>
                    <a:pt x="0" y="307505"/>
                  </a:cubicBezTo>
                  <a:lnTo>
                    <a:pt x="0" y="59684"/>
                  </a:lnTo>
                  <a:cubicBezTo>
                    <a:pt x="0" y="43855"/>
                    <a:pt x="6288" y="28674"/>
                    <a:pt x="17481" y="17481"/>
                  </a:cubicBezTo>
                  <a:cubicBezTo>
                    <a:pt x="28674" y="6288"/>
                    <a:pt x="43855" y="0"/>
                    <a:pt x="59684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8766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07068" y="1517598"/>
            <a:ext cx="7491454" cy="8229600"/>
            <a:chOff x="0" y="0"/>
            <a:chExt cx="334254" cy="367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4254" cy="367188"/>
            </a:xfrm>
            <a:custGeom>
              <a:avLst/>
              <a:gdLst/>
              <a:ahLst/>
              <a:cxnLst/>
              <a:rect r="r" b="b" t="t" l="l"/>
              <a:pathLst>
                <a:path h="367188" w="334254">
                  <a:moveTo>
                    <a:pt x="103343" y="0"/>
                  </a:moveTo>
                  <a:lnTo>
                    <a:pt x="230911" y="0"/>
                  </a:lnTo>
                  <a:cubicBezTo>
                    <a:pt x="287985" y="0"/>
                    <a:pt x="334254" y="46268"/>
                    <a:pt x="334254" y="103343"/>
                  </a:cubicBezTo>
                  <a:lnTo>
                    <a:pt x="334254" y="263845"/>
                  </a:lnTo>
                  <a:cubicBezTo>
                    <a:pt x="334254" y="320920"/>
                    <a:pt x="287985" y="367188"/>
                    <a:pt x="230911" y="367188"/>
                  </a:cubicBezTo>
                  <a:lnTo>
                    <a:pt x="103343" y="367188"/>
                  </a:lnTo>
                  <a:cubicBezTo>
                    <a:pt x="46268" y="367188"/>
                    <a:pt x="0" y="320920"/>
                    <a:pt x="0" y="263845"/>
                  </a:cubicBezTo>
                  <a:lnTo>
                    <a:pt x="0" y="103343"/>
                  </a:lnTo>
                  <a:cubicBezTo>
                    <a:pt x="0" y="46268"/>
                    <a:pt x="46268" y="0"/>
                    <a:pt x="103343" y="0"/>
                  </a:cubicBezTo>
                  <a:close/>
                </a:path>
              </a:pathLst>
            </a:custGeom>
            <a:solidFill>
              <a:srgbClr val="10AE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4254" cy="405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650948"/>
            <a:ext cx="9615878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IMPROVEMENTS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9332" y="4081472"/>
            <a:ext cx="9307737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Caching: Add @cacheControl hints and CDN caching for public endpoints.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Real‑time updates: GraphQL Subscriptions for order status and inventory notifications.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File uploads: Integrate image uploads to S3 (presigned URLs).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Atomic transactions: Use Mongoose sessions in placeOrder for stock checks + order creation.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6262F"/>
                </a:solidFill>
                <a:latin typeface="Garet Bold"/>
                <a:ea typeface="Garet Bold"/>
                <a:cs typeface="Garet Bold"/>
                <a:sym typeface="Garet Bold"/>
              </a:rPr>
              <a:t>Observability: Add structured logging, metrics, and distributed tracing (e.g., OpenTelemetry).</a:t>
            </a:r>
          </a:p>
          <a:p>
            <a:pPr algn="just">
              <a:lnSpc>
                <a:spcPts val="3499"/>
              </a:lnSpc>
            </a:pP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57779" y="1403216"/>
            <a:ext cx="7590256" cy="7689209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16832507" y="1212602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9512" y="-1346526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32818" y="3149037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06386" y="-1346526"/>
            <a:ext cx="8991126" cy="89911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6304430"/>
            <a:chOff x="0" y="0"/>
            <a:chExt cx="3138035" cy="1218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356" y="0"/>
              <a:ext cx="3133322" cy="1218903"/>
            </a:xfrm>
            <a:custGeom>
              <a:avLst/>
              <a:gdLst/>
              <a:ahLst/>
              <a:cxnLst/>
              <a:rect r="r" b="b" t="t" l="l"/>
              <a:pathLst>
                <a:path h="1218903" w="3133322">
                  <a:moveTo>
                    <a:pt x="219924" y="1218903"/>
                  </a:moveTo>
                  <a:lnTo>
                    <a:pt x="2913399" y="1218903"/>
                  </a:lnTo>
                  <a:cubicBezTo>
                    <a:pt x="2924409" y="1218903"/>
                    <a:pt x="2933806" y="1210943"/>
                    <a:pt x="2935616" y="1200083"/>
                  </a:cubicBezTo>
                  <a:lnTo>
                    <a:pt x="3132541" y="18820"/>
                  </a:lnTo>
                  <a:cubicBezTo>
                    <a:pt x="3133323" y="14134"/>
                    <a:pt x="3132002" y="9341"/>
                    <a:pt x="3128931" y="5716"/>
                  </a:cubicBezTo>
                  <a:cubicBezTo>
                    <a:pt x="3125861" y="2090"/>
                    <a:pt x="3121350" y="0"/>
                    <a:pt x="3116599" y="0"/>
                  </a:cubicBezTo>
                  <a:lnTo>
                    <a:pt x="16724" y="0"/>
                  </a:lnTo>
                  <a:cubicBezTo>
                    <a:pt x="11973" y="0"/>
                    <a:pt x="7462" y="2090"/>
                    <a:pt x="4391" y="5716"/>
                  </a:cubicBezTo>
                  <a:cubicBezTo>
                    <a:pt x="1320" y="9341"/>
                    <a:pt x="0" y="14134"/>
                    <a:pt x="781" y="18820"/>
                  </a:cubicBezTo>
                  <a:lnTo>
                    <a:pt x="197707" y="1200083"/>
                  </a:lnTo>
                  <a:cubicBezTo>
                    <a:pt x="199517" y="1210943"/>
                    <a:pt x="208914" y="1218903"/>
                    <a:pt x="219924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2884035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911518" y="149092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2607425">
            <a:off x="4771735" y="2267760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8177190" y="2009775"/>
            <a:ext cx="8583916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64013" y="5231656"/>
            <a:ext cx="72321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QU</a:t>
            </a:r>
            <a:r>
              <a:rPr lang="en-US" sz="3000" i="true" strike="noStrike" u="non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ESTIONS?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7238611">
            <a:off x="15289832" y="1577304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5596165" y="4043915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DAG4BBeUQIM</dc:identifier>
  <dcterms:modified xsi:type="dcterms:W3CDTF">2011-08-01T06:04:30Z</dcterms:modified>
  <cp:revision>1</cp:revision>
  <dc:title>Teal Orange Yellow And White Illustrative E-Commerce Trends Presentation</dc:title>
</cp:coreProperties>
</file>